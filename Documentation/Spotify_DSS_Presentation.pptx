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</c:v>
                </c:pt>
              </c:strCache>
            </c:strRef>
          </c:tx>
          <c:spPr>
            <a:solidFill>
              <a:srgbClr val="FF5B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A2-0B4E-A0FE-C91DBBB078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CA2-0B4E-A0FE-C91DBBB078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CA2-0B4E-A0FE-C91DBBB078A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CA2-0B4E-A0FE-C91DBBB078A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CA2-0B4E-A0FE-C91DBBB078A3}"/>
              </c:ext>
            </c:extLst>
          </c:dPt>
          <c:dPt>
            <c:idx val="5"/>
            <c:invertIfNegative val="0"/>
            <c:bubble3D val="0"/>
            <c:spPr>
              <a:solidFill>
                <a:srgbClr val="8A63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CA2-0B4E-A0FE-C91DBBB078A3}"/>
              </c:ext>
            </c:extLst>
          </c:dPt>
          <c:dPt>
            <c:idx val="6"/>
            <c:invertIfNegative val="0"/>
            <c:bubble3D val="0"/>
            <c:spPr>
              <a:solidFill>
                <a:srgbClr val="8A63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CA2-0B4E-A0FE-C91DBBB078A3}"/>
              </c:ext>
            </c:extLst>
          </c:dPt>
          <c:dPt>
            <c:idx val="7"/>
            <c:invertIfNegative val="0"/>
            <c:bubble3D val="0"/>
            <c:spPr>
              <a:solidFill>
                <a:srgbClr val="8A63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CA2-0B4E-A0FE-C91DBBB078A3}"/>
              </c:ext>
            </c:extLst>
          </c:dPt>
          <c:dPt>
            <c:idx val="8"/>
            <c:invertIfNegative val="0"/>
            <c:bubble3D val="0"/>
            <c:spPr>
              <a:solidFill>
                <a:srgbClr val="8A63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CA2-0B4E-A0FE-C91DBBB078A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541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energy</c:v>
                </c:pt>
                <c:pt idx="1">
                  <c:v>danceability</c:v>
                </c:pt>
                <c:pt idx="2">
                  <c:v>tempo</c:v>
                </c:pt>
                <c:pt idx="3">
                  <c:v>duration</c:v>
                </c:pt>
                <c:pt idx="4">
                  <c:v>valence</c:v>
                </c:pt>
                <c:pt idx="5">
                  <c:v>liveness</c:v>
                </c:pt>
                <c:pt idx="6">
                  <c:v>speechiness</c:v>
                </c:pt>
                <c:pt idx="7">
                  <c:v>instrum.</c:v>
                </c:pt>
                <c:pt idx="8">
                  <c:v>acousticness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</c:v>
                </c:pt>
                <c:pt idx="1">
                  <c:v>0.19</c:v>
                </c:pt>
                <c:pt idx="2">
                  <c:v>7.0999999999999994E-2</c:v>
                </c:pt>
                <c:pt idx="3">
                  <c:v>2.8000000000000001E-2</c:v>
                </c:pt>
                <c:pt idx="4">
                  <c:v>5.0000000000000001E-3</c:v>
                </c:pt>
                <c:pt idx="5">
                  <c:v>-4.9000000000000002E-2</c:v>
                </c:pt>
                <c:pt idx="6">
                  <c:v>-4.7E-2</c:v>
                </c:pt>
                <c:pt idx="7">
                  <c:v>-0.24</c:v>
                </c:pt>
                <c:pt idx="8">
                  <c:v>-0.37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CA2-0B4E-A0FE-C91DBBB07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0.5"/>
        </c:scaling>
        <c:delete val="0"/>
        <c:axPos val="b"/>
        <c:majorGridlines>
          <c:spPr>
            <a:ln w="6350" cap="flat">
              <a:solidFill>
                <a:srgbClr val="ED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6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2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oundRect">
            <a:avLst/>
          </a:prstGeom>
          <a:solidFill>
            <a:srgbClr val="241B42"/>
          </a:solidFill>
          <a:ln/>
        </p:spPr>
      </p:sp>
      <p:pic>
        <p:nvPicPr>
          <p:cNvPr id="3" name="Image 0" descr="figs/img-0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1417320"/>
            <a:ext cx="4343400" cy="2889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051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COURSE PROJECT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Data-Driven Insights: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Analyzing Spotify Music Data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music data into insight for strategic decision-making through statistics, visualization, and machine learning techniques.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41B4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B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600K+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5532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063240" y="48920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41B42"/>
          </a:solidFill>
          <a:ln/>
        </p:spPr>
      </p:sp>
      <p:sp>
        <p:nvSpPr>
          <p:cNvPr id="11" name="Text 8"/>
          <p:cNvSpPr/>
          <p:nvPr/>
        </p:nvSpPr>
        <p:spPr>
          <a:xfrm>
            <a:off x="306324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B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063240" y="5532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analyses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03520" y="48920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41B42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B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303520" y="5532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835640" y="5120640"/>
            <a:ext cx="822960" cy="822960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610" y="533461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— Group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4F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02536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2149937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74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Omer Furkan Bilici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01000" y="2066544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0665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843784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32688" y="2971800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311920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284378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Necla Ilayda Guler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01000" y="3035808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/>
        </p:spPr>
      </p:sp>
      <p:sp>
        <p:nvSpPr>
          <p:cNvPr id="17" name="Text 13"/>
          <p:cNvSpPr/>
          <p:nvPr/>
        </p:nvSpPr>
        <p:spPr>
          <a:xfrm>
            <a:off x="8001000" y="30358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Coordination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813048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941064"/>
            <a:ext cx="566928" cy="56692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4088465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381304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Tabassum Nadavinmani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8001000" y="4005072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E4F7EC"/>
          </a:solidFill>
          <a:ln/>
        </p:spPr>
      </p:sp>
      <p:sp>
        <p:nvSpPr>
          <p:cNvPr id="23" name="Text 18"/>
          <p:cNvSpPr/>
          <p:nvPr/>
        </p:nvSpPr>
        <p:spPr>
          <a:xfrm>
            <a:off x="8001000" y="4005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 &amp; Reporting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" y="4782312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688" y="4910328"/>
            <a:ext cx="566928" cy="566928"/>
          </a:xfrm>
          <a:prstGeom prst="ellipse">
            <a:avLst/>
          </a:prstGeom>
          <a:solidFill>
            <a:srgbClr val="FFB020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5057729"/>
            <a:ext cx="272125" cy="2721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28800" y="47823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Sourav Jaiswal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8001000" y="4974336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FFF3DE"/>
          </a:solidFill>
          <a:ln/>
        </p:spPr>
      </p:sp>
      <p:sp>
        <p:nvSpPr>
          <p:cNvPr id="29" name="Text 23"/>
          <p:cNvSpPr/>
          <p:nvPr/>
        </p:nvSpPr>
        <p:spPr>
          <a:xfrm>
            <a:off x="8001000" y="497433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Modelling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0080" y="5751576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32688" y="587959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6026993"/>
            <a:ext cx="272125" cy="27212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828800" y="575157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Harshal Tittamelanahalli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8001000" y="5943600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/>
        </p:spPr>
      </p:sp>
      <p:sp>
        <p:nvSpPr>
          <p:cNvPr id="35" name="Text 28"/>
          <p:cNvSpPr/>
          <p:nvPr/>
        </p:nvSpPr>
        <p:spPr>
          <a:xfrm>
            <a:off x="8001000" y="59436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Modelling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Goal and DSS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like Spotify generate massive amounts of music data every day. This project analyzes that data to show how it can support intelligent, evidence-based decision-making in the music industry.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481328"/>
            <a:ext cx="5715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53328" y="1810512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29" y="19579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4848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84848" y="20848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decisions using data analysis, visualization, and ML.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06440" y="2898648"/>
            <a:ext cx="5715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53328" y="322783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29" y="337523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4848" y="3118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84848" y="35021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+ statistical visualization.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806440" y="4315968"/>
            <a:ext cx="5715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53328" y="4645152"/>
            <a:ext cx="566928" cy="56692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29" y="479255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4535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784848" y="49194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and a KNN-based recommendation engine.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8920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2A2350"/>
          </a:solidFill>
          <a:ln/>
        </p:spPr>
      </p:sp>
      <p:sp>
        <p:nvSpPr>
          <p:cNvPr id="22" name="Shape 17"/>
          <p:cNvSpPr/>
          <p:nvPr/>
        </p:nvSpPr>
        <p:spPr>
          <a:xfrm>
            <a:off x="896112" y="5212080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13" y="5359481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50292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insights that guide music production, playlist curation, and personalized recommendations.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Source and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4343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847088"/>
            <a:ext cx="640080" cy="640080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01350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tracks.csv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Track-level metadata + audio features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popularity, release_date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duration_ms, explicit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energy, tempo, loudness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acousticness, valence, instrumentalness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id_artists, artists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1572768"/>
            <a:ext cx="4343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44968" y="1847088"/>
            <a:ext cx="640080" cy="640080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389" y="201350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4964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artists.csv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54964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Artist-level metadata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818120" y="27432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23560" y="2788920"/>
            <a:ext cx="822960" cy="822960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530" y="300289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id_artists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 id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A2350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5358384"/>
            <a:ext cx="566928" cy="56692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01" y="550578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dataset: </a:t>
            </a:r>
            <a:r>
              <a:rPr lang="en-US" sz="135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features combined with artist popularity and follower counts into one structure, enabling holistic analysis at both track and artist level.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Preprocessing and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carried out with Pandas and NumPy established a reliable foundation for analysis and modeling.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505456"/>
            <a:ext cx="585216" cy="585216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6" y="2657612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322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Missing Values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nulls in popularity, release_date, and audio features were removed with dropna().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2103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505456"/>
            <a:ext cx="585216" cy="585216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956" y="2657612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322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Type Formatting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7804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release_date converted to datetime; numeric fields cast to proper types.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05656"/>
            <a:ext cx="585216" cy="585216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56" y="4257812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9227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Feature Engineering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4325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 derived from duration_ms; year extracted from release_date.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26480" y="3703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4105656"/>
            <a:ext cx="585216" cy="585216"/>
          </a:xfrm>
          <a:prstGeom prst="ellipse">
            <a:avLst/>
          </a:prstGeom>
          <a:solidFill>
            <a:srgbClr val="FFB020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956" y="4257812"/>
            <a:ext cx="280904" cy="280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39227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Dataset Merging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178040" y="4325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and artist data added via id_artists ⟷ id matching.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CEEDD"/>
          </a:solidFill>
          <a:ln/>
        </p:spPr>
      </p:sp>
      <p:sp>
        <p:nvSpPr>
          <p:cNvPr id="27" name="Shape 21"/>
          <p:cNvSpPr/>
          <p:nvPr/>
        </p:nvSpPr>
        <p:spPr>
          <a:xfrm>
            <a:off x="841248" y="5541264"/>
            <a:ext cx="475488" cy="475488"/>
          </a:xfrm>
          <a:prstGeom prst="ellipse">
            <a:avLst/>
          </a:prstGeom>
          <a:solidFill>
            <a:srgbClr val="FFB020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875" y="5664891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544982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also describes duplicate removal and dropping of irrelevant columns; these steps are not explicitly implemented in the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Popularity Distribution &amp; Listener 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052" y="1719072"/>
            <a:ext cx="5163417" cy="3950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79008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· Track Popularity Distribution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78040" y="155448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434072" y="1810512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473" y="195791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38160" y="18105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Long-Tail Pattern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70648" y="248716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tracks cluster at 0 popularity; counts peak in the 20–40 range then decline. Only a tiny fraction score above 80.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178040" y="3886200"/>
            <a:ext cx="43434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434072" y="414223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473" y="428963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4142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Strategic Meaning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470648" y="481888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concentrates on a few hits. Recommendation systems and playlists reinforce this gap — visibility and positioning become critical.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notebook markdown mislabels this distribution as "symmetric/normal"; the histogram and report correctly describe it as long-tail.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Correlation Analysis of Audio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5989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18308"/>
            <a:ext cx="5660136" cy="35883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97296"/>
            <a:ext cx="566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· Feature Correlation Matrix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0" y="1572768"/>
            <a:ext cx="4663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Features with Popularity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903720" y="2103120"/>
          <a:ext cx="4572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475488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7114032" y="5010912"/>
            <a:ext cx="566928" cy="56692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433" y="515831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18120" y="5010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150608" y="5687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determines popularity alone; the strongest link is energy (+0.30). Success is multifactorial — marketing, recognition, and algorithms.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of Explicit Content on Popularity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126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872" y="1737360"/>
            <a:ext cx="5024897" cy="3950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97296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· Popularity: Explicit vs Non-explicit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95160" y="1572768"/>
            <a:ext cx="4526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251192" y="1828800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593" y="19762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87768" y="2505456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tracks show a higher median popularity and a wider interquartile range; they dominate the upper popularity band.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95160" y="3931920"/>
            <a:ext cx="4526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251192" y="418795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593" y="433535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55280" y="41879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287768" y="486460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mainstream genres like hip-hop and pop. However, the distributions overlap — being explicit alone is not a strong predictor.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Temporal Trends in Music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· Popularity</a:t>
            </a:r>
            <a:endParaRPr lang="en-US" sz="1250" dirty="0"/>
          </a:p>
        </p:txBody>
      </p:sp>
      <p:pic>
        <p:nvPicPr>
          <p:cNvPr id="7" name="Image 0" descr="figs/img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57400"/>
            <a:ext cx="3200400" cy="17152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64087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from the 1950s, with a marked jump after 2000 in the digital era.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5544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44568" y="1691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 · Danceability</a:t>
            </a:r>
            <a:endParaRPr lang="en-US" sz="1250" dirty="0"/>
          </a:p>
        </p:txBody>
      </p:sp>
      <p:pic>
        <p:nvPicPr>
          <p:cNvPr id="11" name="Image 1" descr="figs/img-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057400"/>
            <a:ext cx="3200400" cy="16931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3841955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increase since the 1980s, driven by disco, hip-hop, and EDM.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83296" y="15544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266176" y="1691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 · Energy</a:t>
            </a:r>
            <a:endParaRPr lang="en-US" sz="1250" dirty="0"/>
          </a:p>
        </p:txBody>
      </p:sp>
      <p:pic>
        <p:nvPicPr>
          <p:cNvPr id="15" name="Image 2" descr="figs/img-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2057400"/>
            <a:ext cx="3200400" cy="17078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6176" y="385664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from the 1960s and stays consistently high after the 2000s.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A2350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" y="5586984"/>
            <a:ext cx="475488" cy="47548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875" y="5710611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4864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trend: </a:t>
            </a:r>
            <a:r>
              <a:rPr lang="en-US" sz="130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music is evolving toward more energetic, rhythmic, and broadly appealing forms — shaped by digitalization and data-driven personalization.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Growth in Music Production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268" y="1737360"/>
            <a:ext cx="5239865" cy="3950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97296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 · Number of Tracks Produced per Year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60920" y="1572768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616952" y="1828800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353" y="19762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2104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Exponential Growth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653528" y="2505456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tracks released per year grows exponentially from 1900 to 2020, with a sharp jump after 2015.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60920" y="393192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2" y="418795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353" y="433535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41879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Why?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53528" y="486460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distribution lowered barriers to entry; independent artists can now reach global audiences directly, without record labels.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INSIGHT 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Artist Popularity and Followers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9037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89178"/>
            <a:ext cx="6574536" cy="3846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97296"/>
            <a:ext cx="6574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 · Top 10 Artists by Followers (Millions)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0" y="1572768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028432" y="1828800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833" y="19762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325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Leading Names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065008" y="2505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Sheeran leads by a wide margin, followed by Ariana Grande, Drake, Justin Bieber, and Eminem.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39319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028432" y="418795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5833" y="433535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3252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65008" y="48646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follower base → higher average popularity. Follower count is a reliable proxy for an artist's influence.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KMeans Clustering of Songs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2120" y="1583278"/>
            <a:ext cx="6675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figs/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44" y="1737360"/>
            <a:ext cx="6189192" cy="3950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579729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 · KMeans Clustering by Danceability &amp; Energy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43800" y="1572768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99832" y="1828800"/>
            <a:ext cx="566928" cy="56692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233" y="19762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836408" y="2505456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audio features were scaled with StandardScaler; k=4 clusters group songs into distinct musical styles / moods.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543800" y="388620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99832" y="4142232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233" y="428963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4142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836408" y="481888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5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provide cohesive musical themes for playlist generation, content categorization, and listener targeting.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KNN-Based Recommendation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2768" y="1938528"/>
            <a:ext cx="658368" cy="65836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944" y="210970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61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27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danceability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followers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27248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502152" y="16916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1938528"/>
            <a:ext cx="658368" cy="65836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016" y="2109704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761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127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standardization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StandardScaler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8932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364224" y="16916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96912" y="1938528"/>
            <a:ext cx="658368" cy="658368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088" y="2109704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1384" y="2761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Model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01384" y="3127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NearestNeighbors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· euclidean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851392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226296" y="16916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58984" y="1938528"/>
            <a:ext cx="658368" cy="658368"/>
          </a:xfrm>
          <a:prstGeom prst="ellipse">
            <a:avLst/>
          </a:prstGeom>
          <a:solidFill>
            <a:srgbClr val="FFB020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160" y="2109704"/>
            <a:ext cx="316017" cy="31601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63456" y="2761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Top-5 Results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63456" y="3127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most similar songs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2A2350"/>
          </a:solidFill>
          <a:ln/>
        </p:spPr>
      </p:sp>
      <p:sp>
        <p:nvSpPr>
          <p:cNvPr id="29" name="Shape 23"/>
          <p:cNvSpPr/>
          <p:nvPr/>
        </p:nvSpPr>
        <p:spPr>
          <a:xfrm>
            <a:off x="914400" y="4709160"/>
            <a:ext cx="603504" cy="603504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311" y="4866071"/>
            <a:ext cx="289682" cy="28968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73736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1737360" y="498348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release year, danceability, energy, and artist followers. The model finds the 5 nearest neighbors in the scaled space and returns each recommendation's song title, artist, popularity, followers, and core feature values — a proof-of-concept for a real-time, context-aware recommendation system.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 Support System (DSS)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11096"/>
            <a:ext cx="731520" cy="731520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101291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Playlist Curation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clustering and similarity algorithms to build mood-aligned thematic playlists.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1911096"/>
            <a:ext cx="731520" cy="731520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2101291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Artist Development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an artist's sound toward trends using historical feature–popularity patterns.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151376"/>
            <a:ext cx="731520" cy="731520"/>
          </a:xfrm>
          <a:prstGeom prst="ellipse">
            <a:avLst/>
          </a:prstGeom>
          <a:solidFill>
            <a:srgbClr val="1DB954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" y="4341571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Marketing &amp; Promotion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6012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follower–popularity link to allocate resources to rising artists and boost ROI.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384048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4808" y="4151376"/>
            <a:ext cx="731520" cy="731520"/>
          </a:xfrm>
          <a:prstGeom prst="ellipse">
            <a:avLst/>
          </a:prstGeom>
          <a:solidFill>
            <a:srgbClr val="FFB020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003" y="4341571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Experience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9224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engagement and loyalty with ML-based personalized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oundRect">
            <a:avLst/>
          </a:prstGeom>
          <a:solidFill>
            <a:srgbClr val="241B4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2606040"/>
            <a:ext cx="1645920" cy="1645920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39" y="3033979"/>
            <a:ext cx="790042" cy="790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280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Science + Music = Smarter Decisions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284488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679192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Energetic, danceable tracks tend to perform better on the platform.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3593592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3740993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57530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follower count is strongly correlated with track success.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4489704"/>
            <a:ext cx="566928" cy="566928"/>
          </a:xfrm>
          <a:prstGeom prst="ellipse">
            <a:avLst/>
          </a:prstGeom>
          <a:solidFill>
            <a:srgbClr val="FF5B5F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4637105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47141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production is growing exponentially, making timing strategic.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8A63D2"/>
          </a:solidFill>
          <a:ln/>
          <a:effectLst>
            <a:outerShdw blurRad="88900" dist="25400" dir="5400000" algn="bl" rotWithShape="0">
              <a:srgbClr val="1E1A33">
                <a:alpha val="1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" y="5533217"/>
            <a:ext cx="272125" cy="2721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5367528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+ recommendation models deliver practical value within a DSS.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822960" y="6355080"/>
            <a:ext cx="6675120" cy="0"/>
          </a:xfrm>
          <a:prstGeom prst="line">
            <a:avLst/>
          </a:prstGeom>
          <a:noFill/>
          <a:ln w="12700">
            <a:solidFill>
              <a:srgbClr val="3A326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22960" y="64190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 analytics with music-domain knowledge opens the door to smarter strategies in content creation, marketing, and user engagement.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1107</Words>
  <Application>Microsoft Macintosh PowerPoint</Application>
  <PresentationFormat>Widescreen</PresentationFormat>
  <Paragraphs>178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Spotify Music Data for Strategic Decision-Making</dc:title>
  <dc:subject>PptxGenJS Presentation</dc:subject>
  <dc:creator>DSS Project</dc:creator>
  <cp:lastModifiedBy>Balaji Shivanand Vanaki</cp:lastModifiedBy>
  <cp:revision>2</cp:revision>
  <dcterms:created xsi:type="dcterms:W3CDTF">2026-07-01T21:03:33Z</dcterms:created>
  <dcterms:modified xsi:type="dcterms:W3CDTF">2026-07-03T11:24:59Z</dcterms:modified>
</cp:coreProperties>
</file>