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DB954">
              <a:alpha val="13000"/>
            </a:srgbClr>
          </a:solidFill>
          <a:ln w="12700">
            <a:solidFill>
              <a:srgbClr val="1DB954">
                <a:alpha val="13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132320" y="2560320"/>
            <a:ext cx="2926080" cy="2926080"/>
          </a:xfrm>
          <a:prstGeom prst="ellipse">
            <a:avLst/>
          </a:prstGeom>
          <a:solidFill>
            <a:srgbClr val="1DB954">
              <a:alpha val="9000"/>
            </a:srgbClr>
          </a:solidFill>
          <a:ln w="12700">
            <a:solidFill>
              <a:srgbClr val="1DB954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Music Data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8872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965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Insights: Analyzing Spotify Music Data for Strategic Decision-Making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Course — DA60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8321040" cy="2743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3310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33101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321040" cy="283464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602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Necla Ilayda Guler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0" y="36027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Coordination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8321040" cy="28346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9044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Tabassum Nadavinmani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0" y="3904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Sourcing &amp; Reporting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69664"/>
            <a:ext cx="8321040" cy="283464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4206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Omer Furkan Bilici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0" y="42062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Lead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471416"/>
            <a:ext cx="8321040" cy="28346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45079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Sourav Jaiswal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0" y="45079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73168"/>
            <a:ext cx="8321040" cy="283464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2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48097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Harshal Tittamelanahalli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0" y="48097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Modelling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8600" y="960120"/>
            <a:ext cx="4251960" cy="4572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38328" y="1033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490472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tracks.csv + artists.csv from Kaggle — merged via artist ID for multi-dimensional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90872" y="960120"/>
            <a:ext cx="425196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90872" y="960120"/>
            <a:ext cx="4251960" cy="4572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00600" y="1033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EDA Findings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90472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correlates with energy (+0.3) and danceability (+0.19). Modern music increasingly energetic and danceable.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926080"/>
            <a:ext cx="425196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28600" y="2926080"/>
            <a:ext cx="4251960" cy="4572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8328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" y="3456432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categorizes tracks by musical style. KNN recommendation engine suggests similar songs.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90872" y="2926080"/>
            <a:ext cx="425196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690872" y="2926080"/>
            <a:ext cx="4251960" cy="4572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00600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DSS 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456432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streaming platforms, producers, and marketers to make evidence-based strategic choices.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Data Source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02336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tracks.csv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&amp; metadata for individual tracks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402336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2075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metadata: popularity, followers, genres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688336"/>
            <a:ext cx="402336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11480" y="27340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key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944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id_artists (tracks) ↔ id (artists)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346704"/>
            <a:ext cx="402336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11480" y="33924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602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records after merging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Preprocessing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201168" cy="20116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047488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records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947672"/>
            <a:ext cx="201168" cy="20116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47488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(drop/impute)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478024"/>
            <a:ext cx="201168" cy="20116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47488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irrelevant columns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008376"/>
            <a:ext cx="201168" cy="20116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47488" y="2980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release_date to datetime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538728"/>
            <a:ext cx="201168" cy="20116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47488" y="3511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numeric fields to correct types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069080"/>
            <a:ext cx="201168" cy="20116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047488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datasets on artist ID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Audio Features Analyzed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1168" y="96012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92608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04288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" y="1399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rhythm &amp; groove. Corr. with popularity: +0.19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172968" y="96012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64408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76088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4408" y="1399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intensity. Strongest positive corr. with popularity: +0.30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44768" y="96012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44768" y="96012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36208" y="1024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47888" y="10241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1399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volume level. Closely linked to energy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228600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01168" y="228600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92608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04288" y="2350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724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acoustic sound. Neg. corr. with energy: −0.72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72968" y="228600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172968" y="228600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264408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76088" y="2350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64408" y="2724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positivity/happiness. Corr. with danceability: +0.53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4768" y="228600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44768" y="228600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36208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47888" y="2350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36208" y="27249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per minute. Used in KNN recommendation model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1168" y="361188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01168" y="361188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92608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Speechiness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04288" y="3675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2608" y="40507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spoken words in the track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72968" y="361188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172968" y="361188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264408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Instrumentalness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76088" y="3675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64408" y="40507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of no vocals. Neg. corr. with popularity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44768" y="3611880"/>
            <a:ext cx="283464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144768" y="3611880"/>
            <a:ext cx="2834640" cy="384048"/>
          </a:xfrm>
          <a:prstGeom prst="rect">
            <a:avLst/>
          </a:prstGeom>
          <a:solidFill>
            <a:srgbClr val="0D6B2B"/>
          </a:solidFill>
          <a:ln w="12700">
            <a:solidFill>
              <a:srgbClr val="0D6B2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236208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47888" y="3675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36208" y="40507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followers — strong proxy for track success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Popularity Distribution &amp; Listener Behaviour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47472" cy="25603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908495"/>
            <a:ext cx="347472" cy="886265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88720" y="3056206"/>
            <a:ext cx="347472" cy="73855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54480" y="2859258"/>
            <a:ext cx="347472" cy="93550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920240" y="2711548"/>
            <a:ext cx="347472" cy="10832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286000" y="2662311"/>
            <a:ext cx="347472" cy="1132449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51760" y="2613074"/>
            <a:ext cx="347472" cy="118168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17520" y="2711548"/>
            <a:ext cx="347472" cy="10832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383280" y="2859258"/>
            <a:ext cx="347472" cy="93550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749040" y="3105443"/>
            <a:ext cx="347472" cy="689317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114800" y="3351628"/>
            <a:ext cx="347472" cy="44313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80560" y="3548575"/>
            <a:ext cx="347472" cy="246185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46320" y="3696286"/>
            <a:ext cx="347472" cy="9847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212080" y="3755370"/>
            <a:ext cx="347472" cy="3939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577840" y="3784913"/>
            <a:ext cx="347472" cy="9847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1234440"/>
            <a:ext cx="0" cy="2560320"/>
          </a:xfrm>
          <a:prstGeom prst="line">
            <a:avLst/>
          </a:prstGeom>
          <a:noFill/>
          <a:ln w="12700">
            <a:solidFill>
              <a:srgbClr val="B3B3B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794760"/>
            <a:ext cx="5943600" cy="0"/>
          </a:xfrm>
          <a:prstGeom prst="line">
            <a:avLst/>
          </a:prstGeom>
          <a:noFill/>
          <a:ln w="12700">
            <a:solidFill>
              <a:srgbClr val="B3B3B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 rot="16200000">
            <a:off x="4572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Count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Popularity (0–100)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960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Popularity Distribution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20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7744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40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8328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60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38912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80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94960" y="38404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100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1389888"/>
            <a:ext cx="233172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675120" y="14356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Long-tail distribution — few tracks reach high popularity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2048256"/>
            <a:ext cx="233172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75120" y="2093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Peak engagement in 20–40 popularity range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2706624"/>
            <a:ext cx="233172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675120" y="275234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Algorithmic recommendations amplify already-popular content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83680" y="3364992"/>
            <a:ext cx="233172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675120" y="34107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Majority of tracks remain underexposed or niche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0" y="4023360"/>
            <a:ext cx="2331720" cy="56692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75120" y="40690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Strategic positioning is key for visibility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of Audio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" y="11155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" y="1536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43584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" y="19568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64208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" y="23774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84832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" y="27980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05456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" y="321868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926080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" y="36393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46704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" y="405993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67328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" y="44805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87952" y="74980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1005840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109728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243584" y="1005840"/>
            <a:ext cx="402336" cy="402336"/>
          </a:xfrm>
          <a:prstGeom prst="rect">
            <a:avLst/>
          </a:prstGeom>
          <a:solidFill>
            <a:srgbClr val="C2C6C2"/>
          </a:solidFill>
          <a:ln w="12700">
            <a:solidFill>
              <a:srgbClr val="C2C6C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43584" y="109728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64208" y="1005840"/>
            <a:ext cx="402336" cy="402336"/>
          </a:xfrm>
          <a:prstGeom prst="rect">
            <a:avLst/>
          </a:prstGeom>
          <a:solidFill>
            <a:srgbClr val="CCC3CC"/>
          </a:solidFill>
          <a:ln w="12700">
            <a:solidFill>
              <a:srgbClr val="CCC3C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664208" y="109728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084832" y="1005840"/>
            <a:ext cx="402336" cy="402336"/>
          </a:xfrm>
          <a:prstGeom prst="rect">
            <a:avLst/>
          </a:prstGeom>
          <a:solidFill>
            <a:srgbClr val="7A4C4C"/>
          </a:solidFill>
          <a:ln w="12700">
            <a:solidFill>
              <a:srgbClr val="7A4C4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84832" y="109728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-0.24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505456" y="1005840"/>
            <a:ext cx="402336" cy="402336"/>
          </a:xfrm>
          <a:prstGeom prst="rect">
            <a:avLst/>
          </a:prstGeom>
          <a:solidFill>
            <a:srgbClr val="754D4D"/>
          </a:solidFill>
          <a:ln w="12700">
            <a:solidFill>
              <a:srgbClr val="754D4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05456" y="109728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926080" y="1005840"/>
            <a:ext cx="402336" cy="402336"/>
          </a:xfrm>
          <a:prstGeom prst="rect">
            <a:avLst/>
          </a:prstGeom>
          <a:solidFill>
            <a:srgbClr val="385959"/>
          </a:solidFill>
          <a:ln w="12700">
            <a:solidFill>
              <a:srgbClr val="385959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346704" y="1005840"/>
            <a:ext cx="402336" cy="402336"/>
          </a:xfrm>
          <a:prstGeom prst="rect">
            <a:avLst/>
          </a:prstGeom>
          <a:solidFill>
            <a:srgbClr val="78DC78"/>
          </a:solidFill>
          <a:ln w="12700">
            <a:solidFill>
              <a:srgbClr val="78DC78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346704" y="109728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767328" y="1005840"/>
            <a:ext cx="402336" cy="402336"/>
          </a:xfrm>
          <a:prstGeom prst="rect">
            <a:avLst/>
          </a:prstGeom>
          <a:solidFill>
            <a:srgbClr val="146060"/>
          </a:solidFill>
          <a:ln w="12700">
            <a:solidFill>
              <a:srgbClr val="14606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187952" y="1005840"/>
            <a:ext cx="402336" cy="402336"/>
          </a:xfrm>
          <a:prstGeom prst="rect">
            <a:avLst/>
          </a:prstGeom>
          <a:solidFill>
            <a:srgbClr val="CFC2CF"/>
          </a:solidFill>
          <a:ln w="12700">
            <a:solidFill>
              <a:srgbClr val="CFC2C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187952" y="109728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22960" y="1426464"/>
            <a:ext cx="402336" cy="402336"/>
          </a:xfrm>
          <a:prstGeom prst="rect">
            <a:avLst/>
          </a:prstGeom>
          <a:solidFill>
            <a:srgbClr val="C2C6C2"/>
          </a:solidFill>
          <a:ln w="12700">
            <a:solidFill>
              <a:srgbClr val="C2C6C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22960" y="151790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243584" y="1426464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243584" y="151790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664208" y="1426464"/>
            <a:ext cx="402336" cy="402336"/>
          </a:xfrm>
          <a:prstGeom prst="rect">
            <a:avLst/>
          </a:prstGeom>
          <a:solidFill>
            <a:srgbClr val="1A5F5F"/>
          </a:solidFill>
          <a:ln w="12700">
            <a:solidFill>
              <a:srgbClr val="1A5F5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084832" y="1426464"/>
            <a:ext cx="402336" cy="402336"/>
          </a:xfrm>
          <a:prstGeom prst="rect">
            <a:avLst/>
          </a:prstGeom>
          <a:solidFill>
            <a:srgbClr val="FF1C1C"/>
          </a:solidFill>
          <a:ln w="12700">
            <a:solidFill>
              <a:srgbClr val="FF1C1C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084832" y="151790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-0.72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505456" y="1426464"/>
            <a:ext cx="402336" cy="402336"/>
          </a:xfrm>
          <a:prstGeom prst="rect">
            <a:avLst/>
          </a:prstGeom>
          <a:solidFill>
            <a:srgbClr val="665050"/>
          </a:solidFill>
          <a:ln w="12700">
            <a:solidFill>
              <a:srgbClr val="66505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505456" y="151790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926080" y="1426464"/>
            <a:ext cx="402336" cy="402336"/>
          </a:xfrm>
          <a:prstGeom prst="rect">
            <a:avLst/>
          </a:prstGeom>
          <a:solidFill>
            <a:srgbClr val="E0BDE0"/>
          </a:solidFill>
          <a:ln w="12700">
            <a:solidFill>
              <a:srgbClr val="E0BDE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3346704" y="1426464"/>
            <a:ext cx="402336" cy="402336"/>
          </a:xfrm>
          <a:prstGeom prst="rect">
            <a:avLst/>
          </a:prstGeom>
          <a:solidFill>
            <a:srgbClr val="A1D0A1"/>
          </a:solidFill>
          <a:ln w="12700">
            <a:solidFill>
              <a:srgbClr val="A1D0A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346704" y="151790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767328" y="1426464"/>
            <a:ext cx="402336" cy="402336"/>
          </a:xfrm>
          <a:prstGeom prst="rect">
            <a:avLst/>
          </a:prstGeom>
          <a:solidFill>
            <a:srgbClr val="C4C5C4"/>
          </a:solidFill>
          <a:ln w="12700">
            <a:solidFill>
              <a:srgbClr val="C4C5C4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767328" y="151790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187952" y="1426464"/>
            <a:ext cx="402336" cy="402336"/>
          </a:xfrm>
          <a:prstGeom prst="rect">
            <a:avLst/>
          </a:prstGeom>
          <a:solidFill>
            <a:srgbClr val="B3CBB3"/>
          </a:solidFill>
          <a:ln w="12700">
            <a:solidFill>
              <a:srgbClr val="B3CBB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187952" y="151790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22960" y="1847088"/>
            <a:ext cx="402336" cy="402336"/>
          </a:xfrm>
          <a:prstGeom prst="rect">
            <a:avLst/>
          </a:prstGeom>
          <a:solidFill>
            <a:srgbClr val="CCC3CC"/>
          </a:solidFill>
          <a:ln w="12700">
            <a:solidFill>
              <a:srgbClr val="CCC3CC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822960" y="1938528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1243584" y="1847088"/>
            <a:ext cx="402336" cy="402336"/>
          </a:xfrm>
          <a:prstGeom prst="rect">
            <a:avLst/>
          </a:prstGeom>
          <a:solidFill>
            <a:srgbClr val="1A5F5F"/>
          </a:solidFill>
          <a:ln w="12700">
            <a:solidFill>
              <a:srgbClr val="1A5F5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664208" y="1847088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1664208" y="1938528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084832" y="1847088"/>
            <a:ext cx="402336" cy="402336"/>
          </a:xfrm>
          <a:prstGeom prst="rect">
            <a:avLst/>
          </a:prstGeom>
          <a:solidFill>
            <a:srgbClr val="EDB9ED"/>
          </a:solidFill>
          <a:ln w="12700">
            <a:solidFill>
              <a:srgbClr val="EDB9ED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2505456" y="1847088"/>
            <a:ext cx="402336" cy="402336"/>
          </a:xfrm>
          <a:prstGeom prst="rect">
            <a:avLst/>
          </a:prstGeom>
          <a:solidFill>
            <a:srgbClr val="335A5A"/>
          </a:solidFill>
          <a:ln w="12700">
            <a:solidFill>
              <a:srgbClr val="335A5A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2926080" y="1847088"/>
            <a:ext cx="402336" cy="402336"/>
          </a:xfrm>
          <a:prstGeom prst="rect">
            <a:avLst/>
          </a:prstGeom>
          <a:solidFill>
            <a:srgbClr val="C9C4C9"/>
          </a:solidFill>
          <a:ln w="12700">
            <a:solidFill>
              <a:srgbClr val="C9C4C9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926080" y="1938528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346704" y="1847088"/>
            <a:ext cx="402336" cy="402336"/>
          </a:xfrm>
          <a:prstGeom prst="rect">
            <a:avLst/>
          </a:prstGeom>
          <a:solidFill>
            <a:srgbClr val="F2B8F2"/>
          </a:solidFill>
          <a:ln w="12700">
            <a:solidFill>
              <a:srgbClr val="F2B8F2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3767328" y="1847088"/>
            <a:ext cx="402336" cy="402336"/>
          </a:xfrm>
          <a:prstGeom prst="rect">
            <a:avLst/>
          </a:prstGeom>
          <a:solidFill>
            <a:srgbClr val="2E5B5B"/>
          </a:solidFill>
          <a:ln w="12700">
            <a:solidFill>
              <a:srgbClr val="2E5B5B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4187952" y="1847088"/>
            <a:ext cx="402336" cy="402336"/>
          </a:xfrm>
          <a:prstGeom prst="rect">
            <a:avLst/>
          </a:prstGeom>
          <a:solidFill>
            <a:srgbClr val="1A5F5F"/>
          </a:solidFill>
          <a:ln w="12700">
            <a:solidFill>
              <a:srgbClr val="1A5F5F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822960" y="2267712"/>
            <a:ext cx="402336" cy="402336"/>
          </a:xfrm>
          <a:prstGeom prst="rect">
            <a:avLst/>
          </a:prstGeom>
          <a:solidFill>
            <a:srgbClr val="7A4C4C"/>
          </a:solidFill>
          <a:ln w="12700">
            <a:solidFill>
              <a:srgbClr val="7A4C4C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23591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-0.24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243584" y="2267712"/>
            <a:ext cx="402336" cy="402336"/>
          </a:xfrm>
          <a:prstGeom prst="rect">
            <a:avLst/>
          </a:prstGeom>
          <a:solidFill>
            <a:srgbClr val="FF1C1C"/>
          </a:solidFill>
          <a:ln w="12700">
            <a:solidFill>
              <a:srgbClr val="FF1C1C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1243584" y="23591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664208" y="2267712"/>
            <a:ext cx="402336" cy="402336"/>
          </a:xfrm>
          <a:prstGeom prst="rect">
            <a:avLst/>
          </a:prstGeom>
          <a:solidFill>
            <a:srgbClr val="EDB9ED"/>
          </a:solidFill>
          <a:ln w="12700">
            <a:solidFill>
              <a:srgbClr val="EDB9ED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2084832" y="2267712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2084832" y="23591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505456" y="2267712"/>
            <a:ext cx="402336" cy="402336"/>
          </a:xfrm>
          <a:prstGeom prst="rect">
            <a:avLst/>
          </a:prstGeom>
          <a:solidFill>
            <a:srgbClr val="CCC3CC"/>
          </a:solidFill>
          <a:ln w="12700">
            <a:solidFill>
              <a:srgbClr val="CCC3CC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2505456" y="23591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926080" y="2267712"/>
            <a:ext cx="402336" cy="402336"/>
          </a:xfrm>
          <a:prstGeom prst="rect">
            <a:avLst/>
          </a:prstGeom>
          <a:solidFill>
            <a:srgbClr val="006464"/>
          </a:solidFill>
          <a:ln w="12700">
            <a:solidFill>
              <a:srgbClr val="006464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3346704" y="2267712"/>
            <a:ext cx="402336" cy="402336"/>
          </a:xfrm>
          <a:prstGeom prst="rect">
            <a:avLst/>
          </a:prstGeom>
          <a:solidFill>
            <a:srgbClr val="5C5252"/>
          </a:solidFill>
          <a:ln w="12700">
            <a:solidFill>
              <a:srgbClr val="5C5252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3346704" y="23591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767328" y="2267712"/>
            <a:ext cx="402336" cy="402336"/>
          </a:xfrm>
          <a:prstGeom prst="rect">
            <a:avLst/>
          </a:prstGeom>
          <a:solidFill>
            <a:srgbClr val="665050"/>
          </a:solidFill>
          <a:ln w="12700">
            <a:solidFill>
              <a:srgbClr val="665050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767328" y="23591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187952" y="2267712"/>
            <a:ext cx="402336" cy="402336"/>
          </a:xfrm>
          <a:prstGeom prst="rect">
            <a:avLst/>
          </a:prstGeom>
          <a:solidFill>
            <a:srgbClr val="BD3F3F"/>
          </a:solidFill>
          <a:ln w="12700">
            <a:solidFill>
              <a:srgbClr val="BD3F3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4187952" y="23591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-0.37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22960" y="2688336"/>
            <a:ext cx="402336" cy="402336"/>
          </a:xfrm>
          <a:prstGeom prst="rect">
            <a:avLst/>
          </a:prstGeom>
          <a:solidFill>
            <a:srgbClr val="754D4D"/>
          </a:solidFill>
          <a:ln w="12700">
            <a:solidFill>
              <a:srgbClr val="754D4D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822960" y="2779776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-0.23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1243584" y="2688336"/>
            <a:ext cx="402336" cy="402336"/>
          </a:xfrm>
          <a:prstGeom prst="rect">
            <a:avLst/>
          </a:prstGeom>
          <a:solidFill>
            <a:srgbClr val="665050"/>
          </a:solidFill>
          <a:ln w="12700">
            <a:solidFill>
              <a:srgbClr val="665050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1243584" y="2779776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664208" y="2688336"/>
            <a:ext cx="402336" cy="402336"/>
          </a:xfrm>
          <a:prstGeom prst="rect">
            <a:avLst/>
          </a:prstGeom>
          <a:solidFill>
            <a:srgbClr val="335A5A"/>
          </a:solidFill>
          <a:ln w="12700">
            <a:solidFill>
              <a:srgbClr val="335A5A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2084832" y="2688336"/>
            <a:ext cx="402336" cy="402336"/>
          </a:xfrm>
          <a:prstGeom prst="rect">
            <a:avLst/>
          </a:prstGeom>
          <a:solidFill>
            <a:srgbClr val="CCC3CC"/>
          </a:solidFill>
          <a:ln w="12700">
            <a:solidFill>
              <a:srgbClr val="CCC3CC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2084832" y="2779776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505456" y="2688336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2505456" y="2779776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926080" y="2688336"/>
            <a:ext cx="402336" cy="402336"/>
          </a:xfrm>
          <a:prstGeom prst="rect">
            <a:avLst/>
          </a:prstGeom>
          <a:solidFill>
            <a:srgbClr val="146060"/>
          </a:solidFill>
          <a:ln w="12700">
            <a:solidFill>
              <a:srgbClr val="146060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3346704" y="2688336"/>
            <a:ext cx="402336" cy="402336"/>
          </a:xfrm>
          <a:prstGeom prst="rect">
            <a:avLst/>
          </a:prstGeom>
          <a:solidFill>
            <a:srgbClr val="5C5252"/>
          </a:solidFill>
          <a:ln w="12700">
            <a:solidFill>
              <a:srgbClr val="5C5252"/>
            </a:solidFill>
            <a:prstDash val="solid"/>
          </a:ln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3346704" y="2779776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767328" y="2688336"/>
            <a:ext cx="402336" cy="402336"/>
          </a:xfrm>
          <a:prstGeom prst="rect">
            <a:avLst/>
          </a:prstGeom>
          <a:solidFill>
            <a:srgbClr val="1F5E5E"/>
          </a:solidFill>
          <a:ln w="12700">
            <a:solidFill>
              <a:srgbClr val="1F5E5E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4187952" y="2688336"/>
            <a:ext cx="402336" cy="402336"/>
          </a:xfrm>
          <a:prstGeom prst="rect">
            <a:avLst/>
          </a:prstGeom>
          <a:solidFill>
            <a:srgbClr val="7A4C4C"/>
          </a:solidFill>
          <a:ln w="12700">
            <a:solidFill>
              <a:srgbClr val="7A4C4C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4187952" y="2779776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-0.24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22960" y="3108960"/>
            <a:ext cx="402336" cy="402336"/>
          </a:xfrm>
          <a:prstGeom prst="rect">
            <a:avLst/>
          </a:prstGeom>
          <a:solidFill>
            <a:srgbClr val="385959"/>
          </a:solidFill>
          <a:ln w="12700">
            <a:solidFill>
              <a:srgbClr val="385959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1243584" y="3108960"/>
            <a:ext cx="402336" cy="402336"/>
          </a:xfrm>
          <a:prstGeom prst="rect">
            <a:avLst/>
          </a:prstGeom>
          <a:solidFill>
            <a:srgbClr val="E0BDE0"/>
          </a:solidFill>
          <a:ln w="12700">
            <a:solidFill>
              <a:srgbClr val="E0BDE0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1664208" y="3108960"/>
            <a:ext cx="402336" cy="402336"/>
          </a:xfrm>
          <a:prstGeom prst="rect">
            <a:avLst/>
          </a:prstGeom>
          <a:solidFill>
            <a:srgbClr val="C9C4C9"/>
          </a:solidFill>
          <a:ln w="12700">
            <a:solidFill>
              <a:srgbClr val="C9C4C9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1664208" y="32004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084832" y="3108960"/>
            <a:ext cx="402336" cy="402336"/>
          </a:xfrm>
          <a:prstGeom prst="rect">
            <a:avLst/>
          </a:prstGeom>
          <a:solidFill>
            <a:srgbClr val="006464"/>
          </a:solidFill>
          <a:ln w="12700">
            <a:solidFill>
              <a:srgbClr val="006464"/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2505456" y="3108960"/>
            <a:ext cx="402336" cy="402336"/>
          </a:xfrm>
          <a:prstGeom prst="rect">
            <a:avLst/>
          </a:prstGeom>
          <a:solidFill>
            <a:srgbClr val="146060"/>
          </a:solidFill>
          <a:ln w="12700">
            <a:solidFill>
              <a:srgbClr val="146060"/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2926080" y="3108960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2926080" y="32004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346704" y="3108960"/>
            <a:ext cx="402336" cy="402336"/>
          </a:xfrm>
          <a:prstGeom prst="rect">
            <a:avLst/>
          </a:prstGeom>
          <a:solidFill>
            <a:srgbClr val="056363"/>
          </a:solidFill>
          <a:ln w="12700">
            <a:solidFill>
              <a:srgbClr val="056363"/>
            </a:solidFill>
            <a:prstDash val="solid"/>
          </a:ln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3767328" y="3108960"/>
            <a:ext cx="402336" cy="402336"/>
          </a:xfrm>
          <a:prstGeom prst="rect">
            <a:avLst/>
          </a:prstGeom>
          <a:solidFill>
            <a:srgbClr val="0A6262"/>
          </a:solidFill>
          <a:ln w="12700">
            <a:solidFill>
              <a:srgbClr val="0A6262"/>
            </a:solidFill>
            <a:prstDash val="solid"/>
          </a:ln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4187952" y="3108960"/>
            <a:ext cx="402336" cy="402336"/>
          </a:xfrm>
          <a:prstGeom prst="rect">
            <a:avLst/>
          </a:prstGeom>
          <a:solidFill>
            <a:srgbClr val="1A5F5F"/>
          </a:solidFill>
          <a:ln w="12700">
            <a:solidFill>
              <a:srgbClr val="1A5F5F"/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822960" y="3529584"/>
            <a:ext cx="402336" cy="402336"/>
          </a:xfrm>
          <a:prstGeom prst="rect">
            <a:avLst/>
          </a:prstGeom>
          <a:solidFill>
            <a:srgbClr val="78DC78"/>
          </a:solidFill>
          <a:ln w="12700">
            <a:solidFill>
              <a:srgbClr val="78DC78"/>
            </a:solidFill>
            <a:prstDash val="solid"/>
          </a:ln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822960" y="362102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243584" y="3529584"/>
            <a:ext cx="402336" cy="402336"/>
          </a:xfrm>
          <a:prstGeom prst="rect">
            <a:avLst/>
          </a:prstGeom>
          <a:solidFill>
            <a:srgbClr val="A1D0A1"/>
          </a:solidFill>
          <a:ln w="12700">
            <a:solidFill>
              <a:srgbClr val="A1D0A1"/>
            </a:solidFill>
            <a:prstDash val="solid"/>
          </a:ln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1243584" y="362102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1664208" y="3529584"/>
            <a:ext cx="402336" cy="402336"/>
          </a:xfrm>
          <a:prstGeom prst="rect">
            <a:avLst/>
          </a:prstGeom>
          <a:solidFill>
            <a:srgbClr val="F2B8F2"/>
          </a:solidFill>
          <a:ln w="12700">
            <a:solidFill>
              <a:srgbClr val="F2B8F2"/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2084832" y="3529584"/>
            <a:ext cx="402336" cy="402336"/>
          </a:xfrm>
          <a:prstGeom prst="rect">
            <a:avLst/>
          </a:prstGeom>
          <a:solidFill>
            <a:srgbClr val="5C5252"/>
          </a:solidFill>
          <a:ln w="12700">
            <a:solidFill>
              <a:srgbClr val="5C5252"/>
            </a:solidFill>
            <a:prstDash val="solid"/>
          </a:ln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2084832" y="362102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2505456" y="3529584"/>
            <a:ext cx="402336" cy="402336"/>
          </a:xfrm>
          <a:prstGeom prst="rect">
            <a:avLst/>
          </a:prstGeom>
          <a:solidFill>
            <a:srgbClr val="5C5252"/>
          </a:solidFill>
          <a:ln w="12700">
            <a:solidFill>
              <a:srgbClr val="5C5252"/>
            </a:solidFill>
            <a:prstDash val="solid"/>
          </a:ln>
        </p:spPr>
        <p:txBody>
          <a:bodyPr/>
          <a:p/>
        </p:txBody>
      </p:sp>
      <p:sp>
        <p:nvSpPr>
          <p:cNvPr id="116" name="Text 114"/>
          <p:cNvSpPr/>
          <p:nvPr/>
        </p:nvSpPr>
        <p:spPr>
          <a:xfrm>
            <a:off x="2505456" y="362102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2926080" y="3529584"/>
            <a:ext cx="402336" cy="402336"/>
          </a:xfrm>
          <a:prstGeom prst="rect">
            <a:avLst/>
          </a:prstGeom>
          <a:solidFill>
            <a:srgbClr val="056363"/>
          </a:solidFill>
          <a:ln w="12700">
            <a:solidFill>
              <a:srgbClr val="056363"/>
            </a:solidFill>
            <a:prstDash val="solid"/>
          </a:ln>
        </p:spPr>
        <p:txBody>
          <a:bodyPr/>
          <a:p/>
        </p:txBody>
      </p:sp>
      <p:sp>
        <p:nvSpPr>
          <p:cNvPr id="118" name="Shape 116"/>
          <p:cNvSpPr/>
          <p:nvPr/>
        </p:nvSpPr>
        <p:spPr>
          <a:xfrm>
            <a:off x="3346704" y="3529584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119" name="Text 117"/>
          <p:cNvSpPr/>
          <p:nvPr/>
        </p:nvSpPr>
        <p:spPr>
          <a:xfrm>
            <a:off x="3346704" y="362102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3767328" y="3529584"/>
            <a:ext cx="402336" cy="402336"/>
          </a:xfrm>
          <a:prstGeom prst="rect">
            <a:avLst/>
          </a:prstGeom>
          <a:solidFill>
            <a:srgbClr val="DBBFDB"/>
          </a:solidFill>
          <a:ln w="12700">
            <a:solidFill>
              <a:srgbClr val="DBBFDB"/>
            </a:solidFill>
            <a:prstDash val="solid"/>
          </a:ln>
        </p:spPr>
        <p:txBody>
          <a:bodyPr/>
          <a:p/>
        </p:txBody>
      </p:sp>
      <p:sp>
        <p:nvSpPr>
          <p:cNvPr id="121" name="Shape 119"/>
          <p:cNvSpPr/>
          <p:nvPr/>
        </p:nvSpPr>
        <p:spPr>
          <a:xfrm>
            <a:off x="4187952" y="3529584"/>
            <a:ext cx="402336" cy="402336"/>
          </a:xfrm>
          <a:prstGeom prst="rect">
            <a:avLst/>
          </a:prstGeom>
          <a:solidFill>
            <a:srgbClr val="FEB4FE"/>
          </a:solidFill>
          <a:ln w="12700">
            <a:solidFill>
              <a:srgbClr val="FEB4FE"/>
            </a:solidFill>
            <a:prstDash val="solid"/>
          </a:ln>
        </p:spPr>
        <p:txBody>
          <a:bodyPr/>
          <a:p/>
        </p:txBody>
      </p:sp>
      <p:sp>
        <p:nvSpPr>
          <p:cNvPr id="122" name="Shape 120"/>
          <p:cNvSpPr/>
          <p:nvPr/>
        </p:nvSpPr>
        <p:spPr>
          <a:xfrm>
            <a:off x="822960" y="3950208"/>
            <a:ext cx="402336" cy="402336"/>
          </a:xfrm>
          <a:prstGeom prst="rect">
            <a:avLst/>
          </a:prstGeom>
          <a:solidFill>
            <a:srgbClr val="146060"/>
          </a:solidFill>
          <a:ln w="12700">
            <a:solidFill>
              <a:srgbClr val="146060"/>
            </a:solidFill>
            <a:prstDash val="solid"/>
          </a:ln>
        </p:spPr>
        <p:txBody>
          <a:bodyPr/>
          <a:p/>
        </p:txBody>
      </p:sp>
      <p:sp>
        <p:nvSpPr>
          <p:cNvPr id="123" name="Shape 121"/>
          <p:cNvSpPr/>
          <p:nvPr/>
        </p:nvSpPr>
        <p:spPr>
          <a:xfrm>
            <a:off x="1243584" y="3950208"/>
            <a:ext cx="402336" cy="402336"/>
          </a:xfrm>
          <a:prstGeom prst="rect">
            <a:avLst/>
          </a:prstGeom>
          <a:solidFill>
            <a:srgbClr val="C4C5C4"/>
          </a:solidFill>
          <a:ln w="12700">
            <a:solidFill>
              <a:srgbClr val="C4C5C4"/>
            </a:solidFill>
            <a:prstDash val="solid"/>
          </a:ln>
        </p:spPr>
        <p:txBody>
          <a:bodyPr/>
          <a:p/>
        </p:txBody>
      </p:sp>
      <p:sp>
        <p:nvSpPr>
          <p:cNvPr id="124" name="Text 122"/>
          <p:cNvSpPr/>
          <p:nvPr/>
        </p:nvSpPr>
        <p:spPr>
          <a:xfrm>
            <a:off x="1243584" y="4041648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664208" y="3950208"/>
            <a:ext cx="402336" cy="402336"/>
          </a:xfrm>
          <a:prstGeom prst="rect">
            <a:avLst/>
          </a:prstGeom>
          <a:solidFill>
            <a:srgbClr val="2E5B5B"/>
          </a:solidFill>
          <a:ln w="12700">
            <a:solidFill>
              <a:srgbClr val="2E5B5B"/>
            </a:solidFill>
            <a:prstDash val="solid"/>
          </a:ln>
        </p:spPr>
        <p:txBody>
          <a:bodyPr/>
          <a:p/>
        </p:txBody>
      </p:sp>
      <p:sp>
        <p:nvSpPr>
          <p:cNvPr id="126" name="Shape 124"/>
          <p:cNvSpPr/>
          <p:nvPr/>
        </p:nvSpPr>
        <p:spPr>
          <a:xfrm>
            <a:off x="2084832" y="3950208"/>
            <a:ext cx="402336" cy="402336"/>
          </a:xfrm>
          <a:prstGeom prst="rect">
            <a:avLst/>
          </a:prstGeom>
          <a:solidFill>
            <a:srgbClr val="665050"/>
          </a:solidFill>
          <a:ln w="12700">
            <a:solidFill>
              <a:srgbClr val="665050"/>
            </a:solidFill>
            <a:prstDash val="solid"/>
          </a:ln>
        </p:spPr>
        <p:txBody>
          <a:bodyPr/>
          <a:p/>
        </p:txBody>
      </p:sp>
      <p:sp>
        <p:nvSpPr>
          <p:cNvPr id="127" name="Text 125"/>
          <p:cNvSpPr/>
          <p:nvPr/>
        </p:nvSpPr>
        <p:spPr>
          <a:xfrm>
            <a:off x="2084832" y="4041648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-0.20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505456" y="3950208"/>
            <a:ext cx="402336" cy="402336"/>
          </a:xfrm>
          <a:prstGeom prst="rect">
            <a:avLst/>
          </a:prstGeom>
          <a:solidFill>
            <a:srgbClr val="1F5E5E"/>
          </a:solidFill>
          <a:ln w="12700">
            <a:solidFill>
              <a:srgbClr val="1F5E5E"/>
            </a:solidFill>
            <a:prstDash val="solid"/>
          </a:ln>
        </p:spPr>
        <p:txBody>
          <a:bodyPr/>
          <a:p/>
        </p:txBody>
      </p:sp>
      <p:sp>
        <p:nvSpPr>
          <p:cNvPr id="129" name="Shape 127"/>
          <p:cNvSpPr/>
          <p:nvPr/>
        </p:nvSpPr>
        <p:spPr>
          <a:xfrm>
            <a:off x="2926080" y="3950208"/>
            <a:ext cx="402336" cy="402336"/>
          </a:xfrm>
          <a:prstGeom prst="rect">
            <a:avLst/>
          </a:prstGeom>
          <a:solidFill>
            <a:srgbClr val="0A6262"/>
          </a:solidFill>
          <a:ln w="12700">
            <a:solidFill>
              <a:srgbClr val="0A6262"/>
            </a:solidFill>
            <a:prstDash val="solid"/>
          </a:ln>
        </p:spPr>
        <p:txBody>
          <a:bodyPr/>
          <a:p/>
        </p:txBody>
      </p:sp>
      <p:sp>
        <p:nvSpPr>
          <p:cNvPr id="130" name="Shape 128"/>
          <p:cNvSpPr/>
          <p:nvPr/>
        </p:nvSpPr>
        <p:spPr>
          <a:xfrm>
            <a:off x="3346704" y="3950208"/>
            <a:ext cx="402336" cy="402336"/>
          </a:xfrm>
          <a:prstGeom prst="rect">
            <a:avLst/>
          </a:prstGeom>
          <a:solidFill>
            <a:srgbClr val="DBBFDB"/>
          </a:solidFill>
          <a:ln w="12700">
            <a:solidFill>
              <a:srgbClr val="DBBFDB"/>
            </a:solidFill>
            <a:prstDash val="solid"/>
          </a:ln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3767328" y="3950208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3767328" y="4041648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187952" y="3950208"/>
            <a:ext cx="402336" cy="402336"/>
          </a:xfrm>
          <a:prstGeom prst="rect">
            <a:avLst/>
          </a:prstGeom>
          <a:solidFill>
            <a:srgbClr val="EDB9ED"/>
          </a:solidFill>
          <a:ln w="12700">
            <a:solidFill>
              <a:srgbClr val="EDB9ED"/>
            </a:solidFill>
            <a:prstDash val="solid"/>
          </a:ln>
        </p:spPr>
        <p:txBody>
          <a:bodyPr/>
          <a:p/>
        </p:txBody>
      </p:sp>
      <p:sp>
        <p:nvSpPr>
          <p:cNvPr id="134" name="Shape 132"/>
          <p:cNvSpPr/>
          <p:nvPr/>
        </p:nvSpPr>
        <p:spPr>
          <a:xfrm>
            <a:off x="822960" y="4370832"/>
            <a:ext cx="402336" cy="402336"/>
          </a:xfrm>
          <a:prstGeom prst="rect">
            <a:avLst/>
          </a:prstGeom>
          <a:solidFill>
            <a:srgbClr val="CFC2CF"/>
          </a:solidFill>
          <a:ln w="12700">
            <a:solidFill>
              <a:srgbClr val="CFC2CF"/>
            </a:solidFill>
            <a:prstDash val="solid"/>
          </a:ln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822960" y="4462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1243584" y="4370832"/>
            <a:ext cx="402336" cy="402336"/>
          </a:xfrm>
          <a:prstGeom prst="rect">
            <a:avLst/>
          </a:prstGeom>
          <a:solidFill>
            <a:srgbClr val="B3CBB3"/>
          </a:solidFill>
          <a:ln w="12700">
            <a:solidFill>
              <a:srgbClr val="B3CBB3"/>
            </a:solidFill>
            <a:prstDash val="solid"/>
          </a:ln>
        </p:spPr>
        <p:txBody>
          <a:bodyPr/>
          <a:p/>
        </p:txBody>
      </p:sp>
      <p:sp>
        <p:nvSpPr>
          <p:cNvPr id="137" name="Text 135"/>
          <p:cNvSpPr/>
          <p:nvPr/>
        </p:nvSpPr>
        <p:spPr>
          <a:xfrm>
            <a:off x="1243584" y="4462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1664208" y="4370832"/>
            <a:ext cx="402336" cy="402336"/>
          </a:xfrm>
          <a:prstGeom prst="rect">
            <a:avLst/>
          </a:prstGeom>
          <a:solidFill>
            <a:srgbClr val="1A5F5F"/>
          </a:solidFill>
          <a:ln w="12700">
            <a:solidFill>
              <a:srgbClr val="1A5F5F"/>
            </a:solidFill>
            <a:prstDash val="solid"/>
          </a:ln>
        </p:spPr>
        <p:txBody>
          <a:bodyPr/>
          <a:p/>
        </p:txBody>
      </p:sp>
      <p:sp>
        <p:nvSpPr>
          <p:cNvPr id="139" name="Shape 137"/>
          <p:cNvSpPr/>
          <p:nvPr/>
        </p:nvSpPr>
        <p:spPr>
          <a:xfrm>
            <a:off x="2084832" y="4370832"/>
            <a:ext cx="402336" cy="402336"/>
          </a:xfrm>
          <a:prstGeom prst="rect">
            <a:avLst/>
          </a:prstGeom>
          <a:solidFill>
            <a:srgbClr val="BD3F3F"/>
          </a:solidFill>
          <a:ln w="12700">
            <a:solidFill>
              <a:srgbClr val="BD3F3F"/>
            </a:solidFill>
            <a:prstDash val="solid"/>
          </a:ln>
        </p:spPr>
        <p:txBody>
          <a:bodyPr/>
          <a:p/>
        </p:txBody>
      </p:sp>
      <p:sp>
        <p:nvSpPr>
          <p:cNvPr id="140" name="Text 138"/>
          <p:cNvSpPr/>
          <p:nvPr/>
        </p:nvSpPr>
        <p:spPr>
          <a:xfrm>
            <a:off x="2084832" y="4462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-0.37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2505456" y="4370832"/>
            <a:ext cx="402336" cy="402336"/>
          </a:xfrm>
          <a:prstGeom prst="rect">
            <a:avLst/>
          </a:prstGeom>
          <a:solidFill>
            <a:srgbClr val="7A4C4C"/>
          </a:solidFill>
          <a:ln w="12700">
            <a:solidFill>
              <a:srgbClr val="7A4C4C"/>
            </a:solidFill>
            <a:prstDash val="solid"/>
          </a:ln>
        </p:spPr>
        <p:txBody>
          <a:bodyPr/>
          <a:p/>
        </p:txBody>
      </p:sp>
      <p:sp>
        <p:nvSpPr>
          <p:cNvPr id="142" name="Text 140"/>
          <p:cNvSpPr/>
          <p:nvPr/>
        </p:nvSpPr>
        <p:spPr>
          <a:xfrm>
            <a:off x="2505456" y="4462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-0.24</a:t>
            </a:r>
            <a:endParaRPr lang="en-US" sz="700" dirty="0"/>
          </a:p>
        </p:txBody>
      </p:sp>
      <p:sp>
        <p:nvSpPr>
          <p:cNvPr id="143" name="Shape 141"/>
          <p:cNvSpPr/>
          <p:nvPr/>
        </p:nvSpPr>
        <p:spPr>
          <a:xfrm>
            <a:off x="2926080" y="4370832"/>
            <a:ext cx="402336" cy="402336"/>
          </a:xfrm>
          <a:prstGeom prst="rect">
            <a:avLst/>
          </a:prstGeom>
          <a:solidFill>
            <a:srgbClr val="1A5F5F"/>
          </a:solidFill>
          <a:ln w="12700">
            <a:solidFill>
              <a:srgbClr val="1A5F5F"/>
            </a:solidFill>
            <a:prstDash val="solid"/>
          </a:ln>
        </p:spPr>
        <p:txBody>
          <a:bodyPr/>
          <a:p/>
        </p:txBody>
      </p:sp>
      <p:sp>
        <p:nvSpPr>
          <p:cNvPr id="144" name="Shape 142"/>
          <p:cNvSpPr/>
          <p:nvPr/>
        </p:nvSpPr>
        <p:spPr>
          <a:xfrm>
            <a:off x="3346704" y="4370832"/>
            <a:ext cx="402336" cy="402336"/>
          </a:xfrm>
          <a:prstGeom prst="rect">
            <a:avLst/>
          </a:prstGeom>
          <a:solidFill>
            <a:srgbClr val="FEB4FE"/>
          </a:solidFill>
          <a:ln w="12700">
            <a:solidFill>
              <a:srgbClr val="FEB4FE"/>
            </a:solidFill>
            <a:prstDash val="solid"/>
          </a:ln>
        </p:spPr>
        <p:txBody>
          <a:bodyPr/>
          <a:p/>
        </p:txBody>
      </p:sp>
      <p:sp>
        <p:nvSpPr>
          <p:cNvPr id="145" name="Shape 143"/>
          <p:cNvSpPr/>
          <p:nvPr/>
        </p:nvSpPr>
        <p:spPr>
          <a:xfrm>
            <a:off x="3767328" y="4370832"/>
            <a:ext cx="402336" cy="402336"/>
          </a:xfrm>
          <a:prstGeom prst="rect">
            <a:avLst/>
          </a:prstGeom>
          <a:solidFill>
            <a:srgbClr val="EDB9ED"/>
          </a:solidFill>
          <a:ln w="12700">
            <a:solidFill>
              <a:srgbClr val="EDB9ED"/>
            </a:solidFill>
            <a:prstDash val="solid"/>
          </a:ln>
        </p:spPr>
        <p:txBody>
          <a:bodyPr/>
          <a:p/>
        </p:txBody>
      </p:sp>
      <p:sp>
        <p:nvSpPr>
          <p:cNvPr id="146" name="Shape 144"/>
          <p:cNvSpPr/>
          <p:nvPr/>
        </p:nvSpPr>
        <p:spPr>
          <a:xfrm>
            <a:off x="4187952" y="4370832"/>
            <a:ext cx="402336" cy="402336"/>
          </a:xfrm>
          <a:prstGeom prst="rect">
            <a:avLst/>
          </a:prstGeom>
          <a:solidFill>
            <a:srgbClr val="00FF00"/>
          </a:solidFill>
          <a:ln w="12700">
            <a:solidFill>
              <a:srgbClr val="00FF00"/>
            </a:solidFill>
            <a:prstDash val="solid"/>
          </a:ln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4187952" y="446227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48920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Key Correlations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4892040" y="1389888"/>
            <a:ext cx="3977640" cy="59436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5010912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→ Popularity</a:t>
            </a:r>
            <a:endParaRPr lang="en-US" sz="1150" dirty="0"/>
          </a:p>
        </p:txBody>
      </p:sp>
      <p:sp>
        <p:nvSpPr>
          <p:cNvPr id="151" name="Text 149"/>
          <p:cNvSpPr/>
          <p:nvPr/>
        </p:nvSpPr>
        <p:spPr>
          <a:xfrm>
            <a:off x="5010912" y="1700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</a:t>
            </a:r>
            <a:endParaRPr lang="en-US" sz="1400" dirty="0"/>
          </a:p>
        </p:txBody>
      </p:sp>
      <p:sp>
        <p:nvSpPr>
          <p:cNvPr id="152" name="Shape 150"/>
          <p:cNvSpPr/>
          <p:nvPr/>
        </p:nvSpPr>
        <p:spPr>
          <a:xfrm>
            <a:off x="4892040" y="2075688"/>
            <a:ext cx="3977640" cy="59436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5010912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 → Popularity</a:t>
            </a:r>
            <a:endParaRPr lang="en-US" sz="1150" dirty="0"/>
          </a:p>
        </p:txBody>
      </p:sp>
      <p:sp>
        <p:nvSpPr>
          <p:cNvPr id="154" name="Text 152"/>
          <p:cNvSpPr/>
          <p:nvPr/>
        </p:nvSpPr>
        <p:spPr>
          <a:xfrm>
            <a:off x="5010912" y="23865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4892040" y="2761488"/>
            <a:ext cx="3977640" cy="59436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5010912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↔ Acousticness</a:t>
            </a:r>
            <a:endParaRPr lang="en-US" sz="1150" dirty="0"/>
          </a:p>
        </p:txBody>
      </p:sp>
      <p:sp>
        <p:nvSpPr>
          <p:cNvPr id="157" name="Text 155"/>
          <p:cNvSpPr/>
          <p:nvPr/>
        </p:nvSpPr>
        <p:spPr>
          <a:xfrm>
            <a:off x="5010912" y="3072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−0.72</a:t>
            </a:r>
            <a:endParaRPr lang="en-US" sz="1400" dirty="0"/>
          </a:p>
        </p:txBody>
      </p:sp>
      <p:sp>
        <p:nvSpPr>
          <p:cNvPr id="158" name="Shape 156"/>
          <p:cNvSpPr/>
          <p:nvPr/>
        </p:nvSpPr>
        <p:spPr>
          <a:xfrm>
            <a:off x="4892040" y="3447288"/>
            <a:ext cx="3977640" cy="59436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59" name="Text 157"/>
          <p:cNvSpPr/>
          <p:nvPr/>
        </p:nvSpPr>
        <p:spPr>
          <a:xfrm>
            <a:off x="5010912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 ↔ Valence</a:t>
            </a:r>
            <a:endParaRPr lang="en-US" sz="1150" dirty="0"/>
          </a:p>
        </p:txBody>
      </p:sp>
      <p:sp>
        <p:nvSpPr>
          <p:cNvPr id="160" name="Text 158"/>
          <p:cNvSpPr/>
          <p:nvPr/>
        </p:nvSpPr>
        <p:spPr>
          <a:xfrm>
            <a:off x="5010912" y="3758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+0.53</a:t>
            </a:r>
            <a:endParaRPr lang="en-US" sz="1400" dirty="0"/>
          </a:p>
        </p:txBody>
      </p:sp>
      <p:sp>
        <p:nvSpPr>
          <p:cNvPr id="161" name="Shape 159"/>
          <p:cNvSpPr/>
          <p:nvPr/>
        </p:nvSpPr>
        <p:spPr>
          <a:xfrm>
            <a:off x="4892040" y="4133088"/>
            <a:ext cx="3977640" cy="59436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62" name="Text 160"/>
          <p:cNvSpPr/>
          <p:nvPr/>
        </p:nvSpPr>
        <p:spPr>
          <a:xfrm>
            <a:off x="5010912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Acousticness → Popularity</a:t>
            </a:r>
            <a:endParaRPr lang="en-US" sz="1150" dirty="0"/>
          </a:p>
        </p:txBody>
      </p:sp>
      <p:sp>
        <p:nvSpPr>
          <p:cNvPr id="163" name="Text 161"/>
          <p:cNvSpPr/>
          <p:nvPr/>
        </p:nvSpPr>
        <p:spPr>
          <a:xfrm>
            <a:off x="5010912" y="4443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−0.37</a:t>
            </a:r>
            <a:endParaRPr lang="en-US" sz="1400" dirty="0"/>
          </a:p>
        </p:txBody>
      </p:sp>
      <p:sp>
        <p:nvSpPr>
          <p:cNvPr id="164" name="Shape 162"/>
          <p:cNvSpPr/>
          <p:nvPr/>
        </p:nvSpPr>
        <p:spPr>
          <a:xfrm>
            <a:off x="4892040" y="4828032"/>
            <a:ext cx="3977640" cy="256032"/>
          </a:xfrm>
          <a:prstGeom prst="rect">
            <a:avLst/>
          </a:prstGeom>
          <a:solidFill>
            <a:srgbClr val="0D3B1A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65" name="Text 163"/>
          <p:cNvSpPr/>
          <p:nvPr/>
        </p:nvSpPr>
        <p:spPr>
          <a:xfrm>
            <a:off x="4956048" y="48463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single feature drives popularity — it's multifactorial!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Trends in Music Features (1900–2020)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1005840"/>
            <a:ext cx="73152" cy="1188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75488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Popularity Over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rise from 1950s. Spike after 2000 with digital platforms. Peak ~2020 driven by streaming &amp; social media algorithms.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4320" y="2331720"/>
            <a:ext cx="73152" cy="11887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5488" y="2404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💃 Danceability Over Time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5234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pre-1960. Steady rise from 1980s (disco, hip-hop, EDM). Highest values in 2020 — rhythm-driven content dominates.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4320" y="3657600"/>
            <a:ext cx="73152" cy="118872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" y="3730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 Over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407822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 in early 1900s (acoustic limits). Sharp rise from 1960s (rock, punk, techno). Consistently high post-2000.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solidFill>
            <a:srgbClr val="0D3B1A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148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Key Conclusion: Contemporary music is simultaneously more popular, more danceable, and more energetic than any previous era.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Popularity &amp; Followers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60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Sheeran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148840" y="1042416"/>
            <a:ext cx="5029200" cy="2926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205472" y="1069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Ariana Grande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48840" y="1444752"/>
            <a:ext cx="3897630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073902" y="14721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8653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Drake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48840" y="1847088"/>
            <a:ext cx="3268980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45252" y="1874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Bieber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48840" y="2249424"/>
            <a:ext cx="2828925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05197" y="22768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Eminem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48840" y="2651760"/>
            <a:ext cx="2703195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79467" y="26791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Rihanna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48840" y="3054096"/>
            <a:ext cx="2514600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90872" y="3081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Billie Eilish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3456432"/>
            <a:ext cx="2388870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65142" y="3483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38770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Swift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48840" y="3858768"/>
            <a:ext cx="2326005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02277" y="38862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Dragons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48840" y="4261104"/>
            <a:ext cx="2011680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187952" y="428853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148840" y="4663440"/>
            <a:ext cx="1760220" cy="292608"/>
          </a:xfrm>
          <a:prstGeom prst="rect">
            <a:avLst/>
          </a:prstGeom>
          <a:solidFill>
            <a:srgbClr val="17A845"/>
          </a:solidFill>
          <a:ln w="12700">
            <a:solidFill>
              <a:srgbClr val="17A84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936492" y="46908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0" y="48920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(Millions)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48840" y="9144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Artists by Followers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960120"/>
            <a:ext cx="1645920" cy="4069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406640" y="1024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1371600"/>
            <a:ext cx="1536192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434072" y="1417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follower base → higher avg popularity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06640" y="2240280"/>
            <a:ext cx="1536192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434072" y="22860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amplify content from known artists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06640" y="3108960"/>
            <a:ext cx="1536192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34072" y="31546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loyalty = sustained engagement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06640" y="3977640"/>
            <a:ext cx="1536192" cy="749808"/>
          </a:xfrm>
          <a:prstGeom prst="rect">
            <a:avLst/>
          </a:prstGeom>
          <a:solidFill>
            <a:srgbClr val="1A1A2E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434072" y="4023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 = reliable influence proxy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Explicit Content on Popularity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91640" y="1623974"/>
            <a:ext cx="0" cy="2370125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71600" y="3599078"/>
            <a:ext cx="640080" cy="-1382573"/>
          </a:xfrm>
          <a:prstGeom prst="rect">
            <a:avLst/>
          </a:prstGeom>
          <a:solidFill>
            <a:srgbClr val="4ECDC4">
              <a:alpha val="60000"/>
            </a:srgbClr>
          </a:solidFill>
          <a:ln w="1905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371600" y="2809037"/>
            <a:ext cx="64008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8720" y="3948379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Non-Explicit (0)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426464"/>
            <a:ext cx="0" cy="2830982"/>
          </a:xfrm>
          <a:prstGeom prst="line">
            <a:avLst/>
          </a:prstGeom>
          <a:noFill/>
          <a:ln w="1905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0" y="3269894"/>
            <a:ext cx="640080" cy="-1316736"/>
          </a:xfrm>
          <a:prstGeom prst="rect">
            <a:avLst/>
          </a:prstGeom>
          <a:solidFill>
            <a:srgbClr val="1DB954">
              <a:alpha val="60000"/>
            </a:srgbClr>
          </a:solidFill>
          <a:ln w="1905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114800" y="2414016"/>
            <a:ext cx="64008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931920" y="421172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(1)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 rot="16200000">
            <a:off x="91440" y="2286000"/>
            <a:ext cx="45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Popularity Score (0–100)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Popularity: Explicit vs Non-Explicit Tracks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" y="107899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100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3152" y="173736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80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" y="23957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60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3152" y="30540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40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" y="371246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" y="43708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3B3B3"/>
                </a:solidFill>
              </a:rPr>
              <a:t>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Observations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389888"/>
            <a:ext cx="3291840" cy="54864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779008" y="14356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 tracks → higher median popularity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2029968"/>
            <a:ext cx="3291840" cy="54864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779008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Wider interquartile range (more variability)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2670048"/>
            <a:ext cx="3291840" cy="54864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79008" y="27157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 songs dominate upper popularity range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3310128"/>
            <a:ext cx="3291840" cy="54864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779008" y="3355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Reflects hip-hop &amp; pop genre trends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3950208"/>
            <a:ext cx="3291840" cy="54864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779008" y="39959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Explicitness alone ≠ strong predictor of success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4645152"/>
            <a:ext cx="3291840" cy="384048"/>
          </a:xfrm>
          <a:prstGeom prst="rect">
            <a:avLst/>
          </a:prstGeom>
          <a:solidFill>
            <a:srgbClr val="0D3B1A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760720" y="4681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genre targeting matters more than content rating alone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— Song Style Segmentation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572000" cy="393192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8046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KMeans: Danceability vs Energy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4206240"/>
            <a:ext cx="109728" cy="109728"/>
          </a:xfrm>
          <a:prstGeom prst="ellipse">
            <a:avLst/>
          </a:prstGeom>
          <a:solidFill>
            <a:srgbClr val="1DB954">
              <a:alpha val="7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3840480"/>
            <a:ext cx="109728" cy="109728"/>
          </a:xfrm>
          <a:prstGeom prst="ellipse">
            <a:avLst/>
          </a:prstGeom>
          <a:solidFill>
            <a:srgbClr val="1DB954">
              <a:alpha val="7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4389120"/>
            <a:ext cx="109728" cy="109728"/>
          </a:xfrm>
          <a:prstGeom prst="ellipse">
            <a:avLst/>
          </a:prstGeom>
          <a:solidFill>
            <a:srgbClr val="1DB954">
              <a:alpha val="7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645920" y="4114800"/>
            <a:ext cx="109728" cy="109728"/>
          </a:xfrm>
          <a:prstGeom prst="ellipse">
            <a:avLst/>
          </a:prstGeom>
          <a:solidFill>
            <a:srgbClr val="1DB954">
              <a:alpha val="7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286000" y="4297680"/>
            <a:ext cx="109728" cy="109728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60320" y="3931920"/>
            <a:ext cx="109728" cy="109728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26080" y="4389120"/>
            <a:ext cx="109728" cy="109728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011680" y="3657600"/>
            <a:ext cx="109728" cy="109728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74720" y="3200400"/>
            <a:ext cx="109728" cy="109728"/>
          </a:xfrm>
          <a:prstGeom prst="ellipse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840480" y="3474720"/>
            <a:ext cx="109728" cy="109728"/>
          </a:xfrm>
          <a:prstGeom prst="ellipse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14800" y="2926080"/>
            <a:ext cx="109728" cy="109728"/>
          </a:xfrm>
          <a:prstGeom prst="ellipse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200400" y="2743200"/>
            <a:ext cx="109728" cy="109728"/>
          </a:xfrm>
          <a:prstGeom prst="ellipse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389120" y="2011680"/>
            <a:ext cx="109728" cy="109728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114800" y="1645920"/>
            <a:ext cx="109728" cy="109728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840480" y="2286000"/>
            <a:ext cx="109728" cy="109728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0" y="1371600"/>
            <a:ext cx="109728" cy="109728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371600" y="2926080"/>
            <a:ext cx="91440" cy="91440"/>
          </a:xfrm>
          <a:prstGeom prst="ellipse">
            <a:avLst/>
          </a:prstGeom>
          <a:solidFill>
            <a:srgbClr val="1DB954">
              <a:alpha val="7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828800" y="3200400"/>
            <a:ext cx="91440" cy="91440"/>
          </a:xfrm>
          <a:prstGeom prst="ellipse">
            <a:avLst/>
          </a:prstGeom>
          <a:solidFill>
            <a:srgbClr val="1DB954">
              <a:alpha val="7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97280" y="2560320"/>
            <a:ext cx="91440" cy="9144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743200" y="2926080"/>
            <a:ext cx="91440" cy="91440"/>
          </a:xfrm>
          <a:prstGeom prst="ellipse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00400" y="4114800"/>
            <a:ext cx="91440" cy="91440"/>
          </a:xfrm>
          <a:prstGeom prst="ellipse">
            <a:avLst/>
          </a:prstGeom>
          <a:solidFill>
            <a:srgbClr val="FF6B6B">
              <a:alpha val="7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0" y="3840480"/>
            <a:ext cx="91440" cy="91440"/>
          </a:xfrm>
          <a:prstGeom prst="ellipse">
            <a:avLst/>
          </a:prstGeom>
          <a:solidFill>
            <a:srgbClr val="4ECDC4">
              <a:alpha val="70000"/>
            </a:srgbClr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389120" y="3200400"/>
            <a:ext cx="91440" cy="91440"/>
          </a:xfrm>
          <a:prstGeom prst="ellipse">
            <a:avLst/>
          </a:prstGeom>
          <a:solidFill>
            <a:srgbClr val="FFE66D">
              <a:alpha val="70000"/>
            </a:srgbClr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286000" y="2286000"/>
            <a:ext cx="91440" cy="91440"/>
          </a:xfrm>
          <a:prstGeom prst="ellipse">
            <a:avLst/>
          </a:prstGeom>
          <a:solidFill>
            <a:srgbClr val="1DB954">
              <a:alpha val="70000"/>
            </a:srgbClr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432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Danceability 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960120"/>
            <a:ext cx="3886200" cy="8686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102352" y="1161288"/>
            <a:ext cx="411480" cy="41148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102352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/ Rock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96128" y="134416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energy, low danceability. Acoustic instrumentation, loud, intense.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1947672"/>
            <a:ext cx="3886200" cy="8686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102352" y="214884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102352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96128" y="2020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 / Electronic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96128" y="23317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danceability + energy. Strong valence. EDM, pop, club music.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2935224"/>
            <a:ext cx="3886200" cy="8686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102352" y="3136392"/>
            <a:ext cx="411480" cy="4114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102352" y="3136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96128" y="3008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/ Acoustic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96128" y="33192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 + danceability. High acousticness. Ballads, folk, classical.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0" y="3922776"/>
            <a:ext cx="3886200" cy="8686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5102352" y="4123944"/>
            <a:ext cx="411480" cy="411480"/>
          </a:xfrm>
          <a:prstGeom prst="ellipse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102352" y="4123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596128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/ Pop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596128" y="43068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all-round. High speechiness. Pop, R&amp;B, mainstream hits.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4919472"/>
            <a:ext cx="3886200" cy="201168"/>
          </a:xfrm>
          <a:prstGeom prst="rect">
            <a:avLst/>
          </a:prstGeom>
          <a:solidFill>
            <a:srgbClr val="0D3B1A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102352" y="49377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uses: year, danceability, energy, artist followers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KNN-Based Music Recommendation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1005840"/>
          </a:xfrm>
          <a:prstGeom prst="rect">
            <a:avLst/>
          </a:prstGeom>
          <a:solidFill>
            <a:srgbClr val="282828"/>
          </a:solidFill>
          <a:ln w="1905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danceability, energy, followers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04872" y="13533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B954"/>
                </a:solidFill>
              </a:rPr>
              <a:t>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1005840"/>
          </a:xfrm>
          <a:prstGeom prst="rect">
            <a:avLst/>
          </a:prstGeom>
          <a:solidFill>
            <a:srgbClr val="282828"/>
          </a:solidFill>
          <a:ln w="1905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0604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53712" y="13533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B954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920240" cy="1005840"/>
          </a:xfrm>
          <a:prstGeom prst="rect">
            <a:avLst/>
          </a:prstGeom>
          <a:solidFill>
            <a:srgbClr val="282828"/>
          </a:solidFill>
          <a:ln w="1905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n_neighbors=5, Euclidean distance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702552" y="135331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B954"/>
                </a:solidFill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005840"/>
            <a:ext cx="1920240" cy="1005840"/>
          </a:xfrm>
          <a:prstGeom prst="rect">
            <a:avLst/>
          </a:prstGeom>
          <a:solidFill>
            <a:srgbClr val="282828"/>
          </a:solidFill>
          <a:ln w="1905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0372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Similar Tracks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14813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artist, popularity, features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Model Parameters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633472"/>
            <a:ext cx="4114800" cy="42976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11480" y="2679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NearestNeighbors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118104"/>
            <a:ext cx="4114800" cy="42976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11480" y="31638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02736"/>
            <a:ext cx="4114800" cy="42976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11480" y="36484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3648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87368"/>
            <a:ext cx="4114800" cy="42976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11480" y="4133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133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4114800" cy="429768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11480" y="4617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danceability, energy, followers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Output Example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2633472"/>
            <a:ext cx="416052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773168" y="26700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96128" y="26700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19088" y="26700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42048" y="26700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Dance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65008" y="26700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2980944"/>
            <a:ext cx="4160520" cy="356616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773168" y="30175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Blinding Lights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96128" y="30175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Weeknd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19088" y="30175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42048" y="30175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65008" y="30175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364992"/>
            <a:ext cx="4160520" cy="356616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773168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Levitating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96128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Lipa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19088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42048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65008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749040"/>
            <a:ext cx="4160520" cy="356616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4773168" y="37856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596128" y="37856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 LAROI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19088" y="37856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242048" y="37856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65008" y="37856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133088"/>
            <a:ext cx="4160520" cy="356616"/>
          </a:xfrm>
          <a:prstGeom prst="rect">
            <a:avLst/>
          </a:prstGeom>
          <a:solidFill>
            <a:srgbClr val="121212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4773168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Watermelon Sugar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596128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Harry Styles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19088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242048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065008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754880" y="4517136"/>
            <a:ext cx="4160520" cy="356616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773168" y="4553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4 U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596128" y="4553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Rodrigo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19088" y="4553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242048" y="4553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065008" y="4553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(DSS) Applications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4572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84048" y="1033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Playlist Curation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490472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clustering &amp; similarity algorithms to build thematic playlists — upbeat workout mixes, mellow evening sets — aligned with listener moods.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457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818888" y="1033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Artist Development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490472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labels &amp; talent managers use feature-popularity patterns to guide artists in refining their sound to align with current audience trends.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20624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06240" cy="45720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84048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Marketing &amp; Promotion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456432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follower count vs. popularity to allocate promotional resources toward emerging artists with rising influence for maximum ROI.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206240" cy="1783080"/>
          </a:xfrm>
          <a:prstGeom prst="rect">
            <a:avLst/>
          </a:prstGeom>
          <a:solidFill>
            <a:srgbClr val="282828"/>
          </a:solidFill>
          <a:ln w="1270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20624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18888" y="2999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User Experience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3456432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ML recommendations improve engagement and retention by delivering content matching each user's unique musical taste profile.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69848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03327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Energetic, danceable tracks consistently perform better — energy has the strongest positive correlation with popularity (+0.30).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859536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74320" y="1874520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1837944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follower counts strongly correlate with track success — visibility and brand identity drive performance in the streaming era.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404872"/>
            <a:ext cx="859536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" y="2679192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64261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content shows nuanced effects — audience targeting and genre norms matter more than the explicit label alone.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09544"/>
            <a:ext cx="859536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74320" y="3483864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432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44728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 revealed exponential growth in music releases post-2015 — strategic content timing is now essential.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014216"/>
            <a:ext cx="859536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74320" y="4288536"/>
            <a:ext cx="502920" cy="5029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7432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+ KNN models provide practical DSS capabilities — enabling personalized recommendations and strategic playlist curation.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6858000" cy="6858000"/>
          </a:xfrm>
          <a:prstGeom prst="ellipse">
            <a:avLst/>
          </a:prstGeom>
          <a:solidFill>
            <a:srgbClr val="1DB954">
              <a:alpha val="10000"/>
            </a:srgbClr>
          </a:solidFill>
          <a:ln w="12700">
            <a:solidFill>
              <a:srgbClr val="1DB954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1DB954">
              <a:alpha val="7000"/>
            </a:srgbClr>
          </a:solidFill>
          <a:ln w="12700">
            <a:solidFill>
              <a:srgbClr val="1DB954">
                <a:alpha val="7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Insights: Analyzing Spotify Music Data for Strategic Decision-Making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DA60 — Data Analytics Course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D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321040" cy="0"/>
          </a:xfrm>
          <a:prstGeom prst="line">
            <a:avLst/>
          </a:prstGeom>
          <a:noFill/>
          <a:ln w="6350">
            <a:solidFill>
              <a:srgbClr val="2A2A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4297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Necla Ilayda Guler   |   Sourav Jaiswal   |   Omer Furkan Bilici   |   Harshal Tittamelanahalli   |   Tabassum Nadavinmani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SpotifyMusicDataAnalysis</dc:title>
  <dc:subject>PptxGenJS Presentation</dc:subject>
  <dc:creator>PptxGenJS</dc:creator>
  <cp:lastModifiedBy>PptxGenJS</cp:lastModifiedBy>
  <cp:revision>1</cp:revision>
  <dcterms:created xsi:type="dcterms:W3CDTF">2026-05-30T07:54:48Z</dcterms:created>
  <dcterms:modified xsi:type="dcterms:W3CDTF">2026-05-30T07:54:48Z</dcterms:modified>
</cp:coreProperties>
</file>